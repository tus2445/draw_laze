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N9PYFPmsZkgKI1RNjifkYkzJU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EC44FF-114B-42B2-BDE7-687B1972A40F}">
  <a:tblStyle styleId="{07EC44FF-114B-42B2-BDE7-687B1972A4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5c0917cd0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75c0917cd0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39eb1e715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g3639eb1e715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848765b1a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f848765b1a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a852a139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fa852a139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40c0ea1e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g3f40c0ea1e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/>
          <p:nvPr/>
        </p:nvSpPr>
        <p:spPr>
          <a:xfrm>
            <a:off x="-24143" y="0"/>
            <a:ext cx="653293" cy="68580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8"/>
          <p:cNvSpPr/>
          <p:nvPr/>
        </p:nvSpPr>
        <p:spPr>
          <a:xfrm flipH="1" rot="10800000">
            <a:off x="-31247" y="0"/>
            <a:ext cx="633743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8"/>
          <p:cNvSpPr txBox="1"/>
          <p:nvPr/>
        </p:nvSpPr>
        <p:spPr>
          <a:xfrm rot="-5400000">
            <a:off x="-174040" y="5138274"/>
            <a:ext cx="8798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LỚP …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8"/>
          <p:cNvSpPr/>
          <p:nvPr>
            <p:ph type="ctrTitle"/>
          </p:nvPr>
        </p:nvSpPr>
        <p:spPr>
          <a:xfrm>
            <a:off x="2068594" y="2540459"/>
            <a:ext cx="8087360" cy="2387600"/>
          </a:xfrm>
          <a:prstGeom prst="roundRect">
            <a:avLst>
              <a:gd fmla="val 3901" name="adj"/>
            </a:avLst>
          </a:prstGeom>
          <a:noFill/>
          <a:ln cap="flat" cmpd="sng" w="2540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6000"/>
              <a:buFont typeface="Times New Roman"/>
              <a:buNone/>
              <a:defRPr b="1" sz="6000">
                <a:solidFill>
                  <a:srgbClr val="05624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" type="subTitle"/>
          </p:nvPr>
        </p:nvSpPr>
        <p:spPr>
          <a:xfrm>
            <a:off x="3208587" y="964871"/>
            <a:ext cx="5807374" cy="434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28"/>
          <p:cNvSpPr txBox="1"/>
          <p:nvPr>
            <p:ph idx="10" type="dt"/>
          </p:nvPr>
        </p:nvSpPr>
        <p:spPr>
          <a:xfrm>
            <a:off x="206859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1" type="ftr"/>
          </p:nvPr>
        </p:nvSpPr>
        <p:spPr>
          <a:xfrm>
            <a:off x="526899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" name="Google Shape;25;p28"/>
          <p:cNvGrpSpPr/>
          <p:nvPr/>
        </p:nvGrpSpPr>
        <p:grpSpPr>
          <a:xfrm>
            <a:off x="11508226" y="243069"/>
            <a:ext cx="546132" cy="546132"/>
            <a:chOff x="11082048" y="197383"/>
            <a:chExt cx="486579" cy="486579"/>
          </a:xfrm>
        </p:grpSpPr>
        <p:sp>
          <p:nvSpPr>
            <p:cNvPr id="26" name="Google Shape;26;p28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8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8;p28"/>
          <p:cNvGrpSpPr/>
          <p:nvPr/>
        </p:nvGrpSpPr>
        <p:grpSpPr>
          <a:xfrm>
            <a:off x="4496259" y="113148"/>
            <a:ext cx="3232030" cy="721015"/>
            <a:chOff x="4280055" y="63291"/>
            <a:chExt cx="3631889" cy="810217"/>
          </a:xfrm>
        </p:grpSpPr>
        <p:sp>
          <p:nvSpPr>
            <p:cNvPr id="29" name="Google Shape;29;p28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8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31" name="Google Shape;31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6241" y="63291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" name="Google Shape;32;p28"/>
          <p:cNvSpPr txBox="1"/>
          <p:nvPr>
            <p:ph idx="2" type="body"/>
          </p:nvPr>
        </p:nvSpPr>
        <p:spPr>
          <a:xfrm>
            <a:off x="3208587" y="1399088"/>
            <a:ext cx="5807374" cy="432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3" type="body"/>
          </p:nvPr>
        </p:nvSpPr>
        <p:spPr>
          <a:xfrm>
            <a:off x="2068594" y="5542055"/>
            <a:ext cx="8087360" cy="5191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1"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8"/>
          <p:cNvSpPr/>
          <p:nvPr>
            <p:ph idx="4" type="body"/>
          </p:nvPr>
        </p:nvSpPr>
        <p:spPr>
          <a:xfrm>
            <a:off x="3746557" y="2166938"/>
            <a:ext cx="2365717" cy="3810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0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8"/>
          <p:cNvSpPr/>
          <p:nvPr>
            <p:ph idx="5" type="body"/>
          </p:nvPr>
        </p:nvSpPr>
        <p:spPr>
          <a:xfrm>
            <a:off x="6112274" y="4926551"/>
            <a:ext cx="3388242" cy="3810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0" scaled="0"/>
          </a:gradFill>
          <a:ln>
            <a:noFill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10409692" y="33357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28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9"/>
          <p:cNvSpPr txBox="1"/>
          <p:nvPr>
            <p:ph type="title"/>
          </p:nvPr>
        </p:nvSpPr>
        <p:spPr>
          <a:xfrm>
            <a:off x="1905755" y="1026302"/>
            <a:ext cx="8378012" cy="98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" type="body"/>
          </p:nvPr>
        </p:nvSpPr>
        <p:spPr>
          <a:xfrm>
            <a:off x="643622" y="2206392"/>
            <a:ext cx="5353953" cy="643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7335"/>
              </a:buClr>
              <a:buSzPts val="2400"/>
              <a:buNone/>
              <a:defRPr b="1" sz="2400">
                <a:solidFill>
                  <a:srgbClr val="F3733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9"/>
          <p:cNvSpPr txBox="1"/>
          <p:nvPr>
            <p:ph idx="2" type="body"/>
          </p:nvPr>
        </p:nvSpPr>
        <p:spPr>
          <a:xfrm>
            <a:off x="643622" y="2932771"/>
            <a:ext cx="5353953" cy="3256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3" type="body"/>
          </p:nvPr>
        </p:nvSpPr>
        <p:spPr>
          <a:xfrm>
            <a:off x="6172200" y="2206392"/>
            <a:ext cx="5183188" cy="643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7335"/>
              </a:buClr>
              <a:buSzPts val="2400"/>
              <a:buNone/>
              <a:defRPr b="1" sz="2400">
                <a:solidFill>
                  <a:srgbClr val="F3733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9"/>
          <p:cNvSpPr txBox="1"/>
          <p:nvPr>
            <p:ph idx="4" type="body"/>
          </p:nvPr>
        </p:nvSpPr>
        <p:spPr>
          <a:xfrm>
            <a:off x="6172200" y="2932771"/>
            <a:ext cx="5183188" cy="3256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9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9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3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9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29"/>
          <p:cNvGrpSpPr/>
          <p:nvPr/>
        </p:nvGrpSpPr>
        <p:grpSpPr>
          <a:xfrm>
            <a:off x="4479985" y="263617"/>
            <a:ext cx="3232030" cy="721014"/>
            <a:chOff x="4280055" y="109041"/>
            <a:chExt cx="3631889" cy="810216"/>
          </a:xfrm>
        </p:grpSpPr>
        <p:sp>
          <p:nvSpPr>
            <p:cNvPr id="50" name="Google Shape;50;p29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9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52" name="Google Shape;52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109041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" name="Google Shape;53;p29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54" name="Google Shape;54;p29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9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29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1926022" y="1049992"/>
            <a:ext cx="8337478" cy="89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>
                <a:solidFill>
                  <a:srgbClr val="05624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033164" y="2331225"/>
            <a:ext cx="10515600" cy="384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103316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423356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1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3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1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1"/>
          <p:cNvGrpSpPr/>
          <p:nvPr/>
        </p:nvGrpSpPr>
        <p:grpSpPr>
          <a:xfrm>
            <a:off x="4479985" y="254598"/>
            <a:ext cx="3232030" cy="721014"/>
            <a:chOff x="4280055" y="98907"/>
            <a:chExt cx="3631889" cy="810216"/>
          </a:xfrm>
        </p:grpSpPr>
        <p:sp>
          <p:nvSpPr>
            <p:cNvPr id="71" name="Google Shape;71;p31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1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73" name="Google Shape;73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98907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" name="Google Shape;74;p31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75" name="Google Shape;75;p31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1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1042294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31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2"/>
          <p:cNvSpPr/>
          <p:nvPr/>
        </p:nvSpPr>
        <p:spPr>
          <a:xfrm>
            <a:off x="1136821" y="1450428"/>
            <a:ext cx="10210628" cy="4289654"/>
          </a:xfrm>
          <a:prstGeom prst="roundRect">
            <a:avLst>
              <a:gd fmla="val 2701" name="adj"/>
            </a:avLst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2"/>
          <p:cNvSpPr/>
          <p:nvPr/>
        </p:nvSpPr>
        <p:spPr>
          <a:xfrm>
            <a:off x="1136821" y="1450428"/>
            <a:ext cx="10210628" cy="4289654"/>
          </a:xfrm>
          <a:prstGeom prst="roundRect">
            <a:avLst>
              <a:gd fmla="val 2701" name="adj"/>
            </a:avLst>
          </a:prstGeom>
          <a:gradFill>
            <a:gsLst>
              <a:gs pos="0">
                <a:srgbClr val="38EF7D">
                  <a:alpha val="40000"/>
                </a:srgbClr>
              </a:gs>
              <a:gs pos="100000">
                <a:srgbClr val="11998E">
                  <a:alpha val="4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2"/>
          <p:cNvSpPr txBox="1"/>
          <p:nvPr>
            <p:ph idx="10" type="dt"/>
          </p:nvPr>
        </p:nvSpPr>
        <p:spPr>
          <a:xfrm>
            <a:off x="423640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1" type="ftr"/>
          </p:nvPr>
        </p:nvSpPr>
        <p:spPr>
          <a:xfrm>
            <a:off x="72326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/>
          <p:nvPr/>
        </p:nvSpPr>
        <p:spPr>
          <a:xfrm>
            <a:off x="-24142" y="0"/>
            <a:ext cx="657886" cy="6858000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2"/>
          <p:cNvSpPr txBox="1"/>
          <p:nvPr/>
        </p:nvSpPr>
        <p:spPr>
          <a:xfrm rot="-5400000">
            <a:off x="-1233059" y="4998600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p32"/>
          <p:cNvGrpSpPr/>
          <p:nvPr/>
        </p:nvGrpSpPr>
        <p:grpSpPr>
          <a:xfrm>
            <a:off x="4479985" y="170766"/>
            <a:ext cx="3232030" cy="721014"/>
            <a:chOff x="4280055" y="128038"/>
            <a:chExt cx="3631889" cy="810216"/>
          </a:xfrm>
        </p:grpSpPr>
        <p:sp>
          <p:nvSpPr>
            <p:cNvPr id="87" name="Google Shape;87;p32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2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89" name="Google Shape;89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6241" y="128038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" name="Google Shape;90;p32"/>
          <p:cNvGrpSpPr/>
          <p:nvPr/>
        </p:nvGrpSpPr>
        <p:grpSpPr>
          <a:xfrm>
            <a:off x="11508226" y="243069"/>
            <a:ext cx="546132" cy="546132"/>
            <a:chOff x="11082048" y="197383"/>
            <a:chExt cx="486579" cy="486579"/>
          </a:xfrm>
        </p:grpSpPr>
        <p:sp>
          <p:nvSpPr>
            <p:cNvPr id="91" name="Google Shape;91;p32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2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32"/>
          <p:cNvSpPr txBox="1"/>
          <p:nvPr>
            <p:ph idx="12" type="sldNum"/>
          </p:nvPr>
        </p:nvSpPr>
        <p:spPr>
          <a:xfrm>
            <a:off x="11347449" y="332284"/>
            <a:ext cx="8445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32"/>
          <p:cNvSpPr txBox="1"/>
          <p:nvPr>
            <p:ph type="title"/>
          </p:nvPr>
        </p:nvSpPr>
        <p:spPr>
          <a:xfrm>
            <a:off x="1653362" y="2425382"/>
            <a:ext cx="9177548" cy="15059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imes New Roman"/>
              <a:buNone/>
              <a:defRPr b="1"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" type="body"/>
          </p:nvPr>
        </p:nvSpPr>
        <p:spPr>
          <a:xfrm>
            <a:off x="1653362" y="4108231"/>
            <a:ext cx="5564835" cy="741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32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2"/>
          <p:cNvSpPr/>
          <p:nvPr/>
        </p:nvSpPr>
        <p:spPr>
          <a:xfrm flipH="1" rot="10800000">
            <a:off x="-2192" y="-2696"/>
            <a:ext cx="633743" cy="6858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3"/>
          <p:cNvSpPr txBox="1"/>
          <p:nvPr>
            <p:ph type="title"/>
          </p:nvPr>
        </p:nvSpPr>
        <p:spPr>
          <a:xfrm>
            <a:off x="1834325" y="1077048"/>
            <a:ext cx="8325700" cy="8412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3"/>
          <p:cNvSpPr txBox="1"/>
          <p:nvPr>
            <p:ph idx="1" type="body"/>
          </p:nvPr>
        </p:nvSpPr>
        <p:spPr>
          <a:xfrm>
            <a:off x="643622" y="2324773"/>
            <a:ext cx="5181600" cy="3852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33"/>
          <p:cNvSpPr txBox="1"/>
          <p:nvPr>
            <p:ph idx="2" type="body"/>
          </p:nvPr>
        </p:nvSpPr>
        <p:spPr>
          <a:xfrm>
            <a:off x="6172200" y="2324773"/>
            <a:ext cx="5181600" cy="3852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3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3"/>
          <p:cNvSpPr/>
          <p:nvPr/>
        </p:nvSpPr>
        <p:spPr>
          <a:xfrm flipH="1" rot="-5400000">
            <a:off x="5778983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3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3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33"/>
          <p:cNvGrpSpPr/>
          <p:nvPr/>
        </p:nvGrpSpPr>
        <p:grpSpPr>
          <a:xfrm>
            <a:off x="4479985" y="305288"/>
            <a:ext cx="3232030" cy="721014"/>
            <a:chOff x="4280055" y="155868"/>
            <a:chExt cx="3631889" cy="810216"/>
          </a:xfrm>
        </p:grpSpPr>
        <p:sp>
          <p:nvSpPr>
            <p:cNvPr id="108" name="Google Shape;108;p33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3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10" name="Google Shape;110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6" y="155868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1" name="Google Shape;111;p33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12" name="Google Shape;112;p33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3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33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3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 txBox="1"/>
          <p:nvPr>
            <p:ph type="title"/>
          </p:nvPr>
        </p:nvSpPr>
        <p:spPr>
          <a:xfrm>
            <a:off x="1915219" y="1180710"/>
            <a:ext cx="8354122" cy="10062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4"/>
          <p:cNvSpPr/>
          <p:nvPr/>
        </p:nvSpPr>
        <p:spPr>
          <a:xfrm rot="5400000">
            <a:off x="5776504" y="-5767744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4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3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4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" name="Google Shape;123;p34"/>
          <p:cNvGrpSpPr/>
          <p:nvPr/>
        </p:nvGrpSpPr>
        <p:grpSpPr>
          <a:xfrm>
            <a:off x="4479985" y="271046"/>
            <a:ext cx="3232030" cy="721014"/>
            <a:chOff x="4280055" y="117389"/>
            <a:chExt cx="3631889" cy="810216"/>
          </a:xfrm>
        </p:grpSpPr>
        <p:sp>
          <p:nvSpPr>
            <p:cNvPr id="124" name="Google Shape;124;p34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4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26" name="Google Shape;126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2060" y="117389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34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28" name="Google Shape;128;p34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4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34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4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5"/>
          <p:cNvSpPr txBox="1"/>
          <p:nvPr>
            <p:ph type="title"/>
          </p:nvPr>
        </p:nvSpPr>
        <p:spPr>
          <a:xfrm>
            <a:off x="643622" y="2219488"/>
            <a:ext cx="4128403" cy="139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  <a:defRPr b="1" sz="3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5"/>
          <p:cNvSpPr txBox="1"/>
          <p:nvPr>
            <p:ph idx="1" type="body"/>
          </p:nvPr>
        </p:nvSpPr>
        <p:spPr>
          <a:xfrm>
            <a:off x="5183188" y="1072493"/>
            <a:ext cx="6172200" cy="4788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5" name="Google Shape;135;p35"/>
          <p:cNvSpPr txBox="1"/>
          <p:nvPr>
            <p:ph idx="2" type="body"/>
          </p:nvPr>
        </p:nvSpPr>
        <p:spPr>
          <a:xfrm>
            <a:off x="643622" y="3724507"/>
            <a:ext cx="4128403" cy="2144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6" name="Google Shape;136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5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5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3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5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35"/>
          <p:cNvGrpSpPr/>
          <p:nvPr/>
        </p:nvGrpSpPr>
        <p:grpSpPr>
          <a:xfrm>
            <a:off x="4479985" y="264096"/>
            <a:ext cx="3232030" cy="721014"/>
            <a:chOff x="4280055" y="109580"/>
            <a:chExt cx="3631889" cy="810216"/>
          </a:xfrm>
        </p:grpSpPr>
        <p:sp>
          <p:nvSpPr>
            <p:cNvPr id="142" name="Google Shape;142;p35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5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44" name="Google Shape;144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109580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" name="Google Shape;145;p35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46" name="Google Shape;146;p35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35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p35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5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6"/>
          <p:cNvSpPr/>
          <p:nvPr>
            <p:ph idx="2" type="pic"/>
          </p:nvPr>
        </p:nvSpPr>
        <p:spPr>
          <a:xfrm>
            <a:off x="5183188" y="1072493"/>
            <a:ext cx="6172200" cy="4796495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6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6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3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6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36"/>
          <p:cNvGrpSpPr/>
          <p:nvPr/>
        </p:nvGrpSpPr>
        <p:grpSpPr>
          <a:xfrm>
            <a:off x="4479985" y="233020"/>
            <a:ext cx="3232030" cy="721014"/>
            <a:chOff x="4280055" y="74659"/>
            <a:chExt cx="3631889" cy="810216"/>
          </a:xfrm>
        </p:grpSpPr>
        <p:sp>
          <p:nvSpPr>
            <p:cNvPr id="158" name="Google Shape;158;p36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36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60" name="Google Shape;160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74659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1" name="Google Shape;161;p36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62" name="Google Shape;162;p36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6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36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6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36"/>
          <p:cNvSpPr txBox="1"/>
          <p:nvPr>
            <p:ph type="title"/>
          </p:nvPr>
        </p:nvSpPr>
        <p:spPr>
          <a:xfrm>
            <a:off x="643622" y="2219488"/>
            <a:ext cx="4128403" cy="139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  <a:defRPr b="1" sz="3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6"/>
          <p:cNvSpPr txBox="1"/>
          <p:nvPr>
            <p:ph idx="1" type="body"/>
          </p:nvPr>
        </p:nvSpPr>
        <p:spPr>
          <a:xfrm>
            <a:off x="643622" y="3724507"/>
            <a:ext cx="4128403" cy="2144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7"/>
          <p:cNvSpPr txBox="1"/>
          <p:nvPr>
            <p:ph type="title"/>
          </p:nvPr>
        </p:nvSpPr>
        <p:spPr>
          <a:xfrm>
            <a:off x="3028100" y="1097482"/>
            <a:ext cx="8325700" cy="7765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7"/>
          <p:cNvSpPr txBox="1"/>
          <p:nvPr>
            <p:ph idx="1" type="body"/>
          </p:nvPr>
        </p:nvSpPr>
        <p:spPr>
          <a:xfrm rot="5400000">
            <a:off x="4072617" y="-1104221"/>
            <a:ext cx="3852189" cy="10710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7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7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3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7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37"/>
          <p:cNvGrpSpPr/>
          <p:nvPr/>
        </p:nvGrpSpPr>
        <p:grpSpPr>
          <a:xfrm>
            <a:off x="4479985" y="286231"/>
            <a:ext cx="3232030" cy="721014"/>
            <a:chOff x="4280055" y="134453"/>
            <a:chExt cx="3631889" cy="810216"/>
          </a:xfrm>
        </p:grpSpPr>
        <p:sp>
          <p:nvSpPr>
            <p:cNvPr id="177" name="Google Shape;177;p37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37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79" name="Google Shape;17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134453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" name="Google Shape;180;p37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81" name="Google Shape;181;p37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7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37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7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8"/>
          <p:cNvSpPr txBox="1"/>
          <p:nvPr>
            <p:ph type="title"/>
          </p:nvPr>
        </p:nvSpPr>
        <p:spPr>
          <a:xfrm rot="5400000">
            <a:off x="7396816" y="2219979"/>
            <a:ext cx="528506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8"/>
          <p:cNvSpPr txBox="1"/>
          <p:nvPr>
            <p:ph idx="1" type="body"/>
          </p:nvPr>
        </p:nvSpPr>
        <p:spPr>
          <a:xfrm rot="5400000">
            <a:off x="2634702" y="239164"/>
            <a:ext cx="3946719" cy="7928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8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8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3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8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38"/>
          <p:cNvGrpSpPr/>
          <p:nvPr/>
        </p:nvGrpSpPr>
        <p:grpSpPr>
          <a:xfrm>
            <a:off x="4479985" y="254598"/>
            <a:ext cx="3232030" cy="721014"/>
            <a:chOff x="4280055" y="98907"/>
            <a:chExt cx="3631889" cy="810216"/>
          </a:xfrm>
        </p:grpSpPr>
        <p:sp>
          <p:nvSpPr>
            <p:cNvPr id="194" name="Google Shape;194;p38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38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96" name="Google Shape;196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98907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" name="Google Shape;197;p38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98" name="Google Shape;198;p38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8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1961"/>
                  </a:srgbClr>
                </a:gs>
                <a:gs pos="100000">
                  <a:srgbClr val="11998E">
                    <a:alpha val="6156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38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8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/>
        </p:nvSpPr>
        <p:spPr>
          <a:xfrm>
            <a:off x="0" y="-1543110"/>
            <a:ext cx="1219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  <a:endParaRPr b="0" i="0" sz="2000" u="none" cap="none" strike="noStrike">
              <a:solidFill>
                <a:srgbClr val="C3C3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27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"/>
          <p:cNvSpPr txBox="1"/>
          <p:nvPr>
            <p:ph idx="1" type="subTitle"/>
          </p:nvPr>
        </p:nvSpPr>
        <p:spPr>
          <a:xfrm>
            <a:off x="3208587" y="964871"/>
            <a:ext cx="5807374" cy="434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>
                <a:latin typeface="Montserrat"/>
                <a:ea typeface="Montserrat"/>
                <a:cs typeface="Montserrat"/>
                <a:sym typeface="Montserrat"/>
              </a:rPr>
              <a:t>KHOA KỸ THUẬT MÁY TÍNH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1"/>
          <p:cNvSpPr/>
          <p:nvPr>
            <p:ph idx="4" type="body"/>
          </p:nvPr>
        </p:nvSpPr>
        <p:spPr>
          <a:xfrm>
            <a:off x="2425407" y="2047138"/>
            <a:ext cx="2553300" cy="3810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0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Thuyết trình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1"/>
          <p:cNvSpPr/>
          <p:nvPr>
            <p:ph idx="5" type="body"/>
          </p:nvPr>
        </p:nvSpPr>
        <p:spPr>
          <a:xfrm>
            <a:off x="5777125" y="4926550"/>
            <a:ext cx="4582800" cy="4344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0" scaled="0"/>
          </a:gradFill>
          <a:ln>
            <a:noFill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80"/>
              <a:buNone/>
            </a:pPr>
            <a:r>
              <a:rPr lang="en-US" sz="1480">
                <a:latin typeface="Times New Roman"/>
                <a:ea typeface="Times New Roman"/>
                <a:cs typeface="Times New Roman"/>
                <a:sym typeface="Times New Roman"/>
              </a:rPr>
              <a:t>Nguyễn Đình Tú</a:t>
            </a:r>
            <a:endParaRPr sz="14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1"/>
          <p:cNvSpPr/>
          <p:nvPr/>
        </p:nvSpPr>
        <p:spPr>
          <a:xfrm>
            <a:off x="238125" y="4926550"/>
            <a:ext cx="166800" cy="264600"/>
          </a:xfrm>
          <a:prstGeom prst="rect">
            <a:avLst/>
          </a:prstGeom>
          <a:solidFill>
            <a:srgbClr val="157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"/>
          <p:cNvSpPr/>
          <p:nvPr>
            <p:ph type="ctrTitle"/>
          </p:nvPr>
        </p:nvSpPr>
        <p:spPr>
          <a:xfrm>
            <a:off x="1638575" y="2428150"/>
            <a:ext cx="9511200" cy="2498400"/>
          </a:xfrm>
          <a:prstGeom prst="roundRect">
            <a:avLst>
              <a:gd fmla="val 3901" name="adj"/>
            </a:avLst>
          </a:prstGeom>
          <a:noFill/>
          <a:ln cap="flat" cmpd="sng" w="2540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"/>
          <p:cNvSpPr txBox="1"/>
          <p:nvPr>
            <p:ph type="title"/>
          </p:nvPr>
        </p:nvSpPr>
        <p:spPr>
          <a:xfrm>
            <a:off x="838205" y="1054878"/>
            <a:ext cx="4466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</a:pPr>
            <a:r>
              <a:rPr lang="en-US" sz="3600" u="sng"/>
              <a:t>Nội dung trình bày:</a:t>
            </a:r>
            <a:endParaRPr b="0" i="1" sz="3600">
              <a:solidFill>
                <a:schemeClr val="dk1"/>
              </a:solidFill>
            </a:endParaRPr>
          </a:p>
        </p:txBody>
      </p:sp>
      <p:sp>
        <p:nvSpPr>
          <p:cNvPr id="216" name="Google Shape;2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15 May 2025</a:t>
            </a:r>
            <a:endParaRPr/>
          </a:p>
        </p:txBody>
      </p:sp>
      <p:sp>
        <p:nvSpPr>
          <p:cNvPr id="217" name="Google Shape;217;p2"/>
          <p:cNvSpPr txBox="1"/>
          <p:nvPr>
            <p:ph idx="11" type="ftr"/>
          </p:nvPr>
        </p:nvSpPr>
        <p:spPr>
          <a:xfrm>
            <a:off x="4238625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2025 UIT. All Rights Reserved.</a:t>
            </a:r>
            <a:endParaRPr/>
          </a:p>
        </p:txBody>
      </p:sp>
      <p:sp>
        <p:nvSpPr>
          <p:cNvPr id="218" name="Google Shape;218;p2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2"/>
          <p:cNvSpPr txBox="1"/>
          <p:nvPr/>
        </p:nvSpPr>
        <p:spPr>
          <a:xfrm>
            <a:off x="859367" y="1697775"/>
            <a:ext cx="11353800" cy="25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Giới thiệu tổng quan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Tổng quan hệ thống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Triển khai hệ thống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quả thực nghiệm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luận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5c0917cd0_0_8"/>
          <p:cNvSpPr txBox="1"/>
          <p:nvPr/>
        </p:nvSpPr>
        <p:spPr>
          <a:xfrm>
            <a:off x="838200" y="1664100"/>
            <a:ext cx="10594500" cy="46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g375c0917cd0_0_8"/>
          <p:cNvSpPr txBox="1"/>
          <p:nvPr>
            <p:ph type="title"/>
          </p:nvPr>
        </p:nvSpPr>
        <p:spPr>
          <a:xfrm>
            <a:off x="838189" y="1042490"/>
            <a:ext cx="81051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200"/>
              <a:buFont typeface="Times New Roman"/>
              <a:buNone/>
            </a:pPr>
            <a:r>
              <a:rPr lang="en-US" sz="3200"/>
              <a:t>1. Giới thiệu tổng quan</a:t>
            </a:r>
            <a:endParaRPr/>
          </a:p>
        </p:txBody>
      </p:sp>
      <p:sp>
        <p:nvSpPr>
          <p:cNvPr id="226" name="Google Shape;226;g375c0917cd0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15 May 2025</a:t>
            </a:r>
            <a:endParaRPr/>
          </a:p>
        </p:txBody>
      </p:sp>
      <p:sp>
        <p:nvSpPr>
          <p:cNvPr id="227" name="Google Shape;227;g375c0917cd0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2025 UIT. All Rights Reserved.</a:t>
            </a:r>
            <a:endParaRPr/>
          </a:p>
        </p:txBody>
      </p:sp>
      <p:sp>
        <p:nvSpPr>
          <p:cNvPr id="228" name="Google Shape;228;g375c0917cd0_0_8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g375c0917cd0_0_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39eb1e715_0_45"/>
          <p:cNvSpPr txBox="1"/>
          <p:nvPr/>
        </p:nvSpPr>
        <p:spPr>
          <a:xfrm>
            <a:off x="838200" y="1999550"/>
            <a:ext cx="105945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Bộ xyz (5 pha): đóng vai trò di chuyển đưa bột tới đúng vị trí laze sẽ bắn tới.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button với các vai trò sau: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g3639eb1e715_0_45"/>
          <p:cNvSpPr txBox="1"/>
          <p:nvPr>
            <p:ph type="title"/>
          </p:nvPr>
        </p:nvSpPr>
        <p:spPr>
          <a:xfrm>
            <a:off x="838200" y="1042503"/>
            <a:ext cx="81051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ct val="90140"/>
              <a:buFont typeface="Times New Roman"/>
              <a:buNone/>
            </a:pPr>
            <a:r>
              <a:rPr lang="en-US" sz="3550"/>
              <a:t>2. Tổng quan hệ thống</a:t>
            </a:r>
            <a:endParaRPr sz="3550"/>
          </a:p>
          <a:p>
            <a:pPr indent="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68582"/>
              <a:buNone/>
            </a:pPr>
            <a:r>
              <a:rPr lang="en-US" sz="2900"/>
              <a:t>2.1.  Cấu trúc phần cứng</a:t>
            </a:r>
            <a:endParaRPr sz="2900"/>
          </a:p>
        </p:txBody>
      </p:sp>
      <p:sp>
        <p:nvSpPr>
          <p:cNvPr id="236" name="Google Shape;236;g3639eb1e715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15 May 2025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g3639eb1e715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Copyrights 2025 UIT. All Rights Reserved.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g3639eb1e715_0_45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9" name="Google Shape;239;g3639eb1e715_0_45"/>
          <p:cNvGraphicFramePr/>
          <p:nvPr/>
        </p:nvGraphicFramePr>
        <p:xfrm>
          <a:off x="1408375" y="294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{07EC44FF-114B-42B2-BDE7-687B1972A40F}</a:tableStyleId>
              </a:tblPr>
              <a:tblGrid>
                <a:gridCol w="4424150"/>
                <a:gridCol w="4424150"/>
              </a:tblGrid>
              <a:tr h="41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Nút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Vai trò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Đưa bộ xyz chạy về Home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Start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Chạy tới địa điểm laze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Button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Vẽ hình 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Button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Vẽ hình 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…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…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848765b1a_0_2"/>
          <p:cNvSpPr txBox="1"/>
          <p:nvPr/>
        </p:nvSpPr>
        <p:spPr>
          <a:xfrm>
            <a:off x="838200" y="1999550"/>
            <a:ext cx="105945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Laze: được lắp đặt cố định trên giá đỡ và bộ làm mát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Camera: trả về vị trí của laze, đo đạc thông số độ mỏng của hình sau khi bắn laze, quan sát trực tiếp quá trình làm việc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g3f848765b1a_0_2"/>
          <p:cNvSpPr txBox="1"/>
          <p:nvPr>
            <p:ph type="title"/>
          </p:nvPr>
        </p:nvSpPr>
        <p:spPr>
          <a:xfrm>
            <a:off x="838200" y="1042503"/>
            <a:ext cx="81051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ct val="90140"/>
              <a:buFont typeface="Times New Roman"/>
              <a:buNone/>
            </a:pPr>
            <a:r>
              <a:rPr lang="en-US" sz="3550"/>
              <a:t>2. Tổng quan hệ thống</a:t>
            </a:r>
            <a:endParaRPr sz="3550"/>
          </a:p>
          <a:p>
            <a:pPr indent="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68582"/>
              <a:buNone/>
            </a:pPr>
            <a:r>
              <a:rPr lang="en-US" sz="2900"/>
              <a:t>2.1.  Cấu trúc phần cứng</a:t>
            </a:r>
            <a:endParaRPr sz="2900"/>
          </a:p>
        </p:txBody>
      </p:sp>
      <p:sp>
        <p:nvSpPr>
          <p:cNvPr id="246" name="Google Shape;246;g3f848765b1a_0_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15 May 2025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g3f848765b1a_0_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Copyrights 2025 UIT. All Rights Reserved.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g3f848765b1a_0_2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g3f848765b1a_0_2"/>
          <p:cNvSpPr txBox="1"/>
          <p:nvPr>
            <p:ph type="title"/>
          </p:nvPr>
        </p:nvSpPr>
        <p:spPr>
          <a:xfrm>
            <a:off x="1320350" y="3429003"/>
            <a:ext cx="81051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200"/>
              <a:buFont typeface="Times New Roman"/>
              <a:buNone/>
            </a:pPr>
            <a:r>
              <a:rPr lang="en-US" sz="2600"/>
              <a:t>2.2.  </a:t>
            </a:r>
            <a:r>
              <a:rPr lang="en-US" sz="2600"/>
              <a:t>Hệ thống nguồn điện và điều khiển Laze</a:t>
            </a:r>
            <a:endParaRPr sz="2600"/>
          </a:p>
        </p:txBody>
      </p:sp>
      <p:sp>
        <p:nvSpPr>
          <p:cNvPr id="250" name="Google Shape;250;g3f848765b1a_0_2"/>
          <p:cNvSpPr txBox="1"/>
          <p:nvPr/>
        </p:nvSpPr>
        <p:spPr>
          <a:xfrm>
            <a:off x="882625" y="4177950"/>
            <a:ext cx="10594500" cy="2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Laze cần có đầu vào 36V, 10A khi ổn định, khi khởi động laze cần dòng điện trên 10A -&gt; tạo một bộ nguồn 36V, 40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Camera: trả về vị trí của laze, đo đạc thông số độ mỏng của hình sau khi bắn laze, quan sát trực tiếp quá trình làm việc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a852a1394_0_0"/>
          <p:cNvSpPr txBox="1"/>
          <p:nvPr/>
        </p:nvSpPr>
        <p:spPr>
          <a:xfrm>
            <a:off x="838200" y="1999550"/>
            <a:ext cx="105945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Bộ làm mát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Sử dụng sò lạnh hoặc nước mát máy tính/ dầu nhớt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Điều chỉnh nguồn laze từ 0 - 60V bằng xung PWM.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 kế ống đường đi cho laze bắn, có thể tuỳ chỉnh tiêu cự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g3fa852a1394_0_0"/>
          <p:cNvSpPr txBox="1"/>
          <p:nvPr>
            <p:ph type="title"/>
          </p:nvPr>
        </p:nvSpPr>
        <p:spPr>
          <a:xfrm>
            <a:off x="838200" y="1042503"/>
            <a:ext cx="81051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ct val="90140"/>
              <a:buFont typeface="Times New Roman"/>
              <a:buNone/>
            </a:pPr>
            <a:r>
              <a:rPr lang="en-US" sz="3550"/>
              <a:t>2. Tổng quan hệ thống</a:t>
            </a:r>
            <a:endParaRPr sz="3550"/>
          </a:p>
          <a:p>
            <a:pPr indent="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68582"/>
              <a:buNone/>
            </a:pPr>
            <a:r>
              <a:rPr lang="en-US" sz="2900"/>
              <a:t>2.2.  </a:t>
            </a:r>
            <a:r>
              <a:rPr lang="en-US" sz="2600"/>
              <a:t>Hệ thống nguồn điện và điều khiển Laze</a:t>
            </a:r>
            <a:endParaRPr sz="2900"/>
          </a:p>
        </p:txBody>
      </p:sp>
      <p:sp>
        <p:nvSpPr>
          <p:cNvPr id="257" name="Google Shape;257;g3fa852a1394_0_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15 May 2025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g3fa852a1394_0_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Copyrights 2025 UIT. All Rights Reserved.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g3fa852a1394_0_0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g3fa852a1394_0_0"/>
          <p:cNvSpPr txBox="1"/>
          <p:nvPr>
            <p:ph type="title"/>
          </p:nvPr>
        </p:nvSpPr>
        <p:spPr>
          <a:xfrm>
            <a:off x="1320350" y="3429003"/>
            <a:ext cx="81051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200"/>
              <a:buFont typeface="Times New Roman"/>
              <a:buNone/>
            </a:pPr>
            <a:r>
              <a:rPr lang="en-US" sz="2600"/>
              <a:t>2.3.  </a:t>
            </a:r>
            <a:r>
              <a:rPr lang="en-US" sz="2600"/>
              <a:t>Cơ cấu dịch chuyển XYZ &amp; Kịch bản điều khiển</a:t>
            </a:r>
            <a:endParaRPr sz="2600"/>
          </a:p>
        </p:txBody>
      </p:sp>
      <p:sp>
        <p:nvSpPr>
          <p:cNvPr id="261" name="Google Shape;261;g3fa852a1394_0_0"/>
          <p:cNvSpPr txBox="1"/>
          <p:nvPr/>
        </p:nvSpPr>
        <p:spPr>
          <a:xfrm>
            <a:off x="882625" y="4177950"/>
            <a:ext cx="10594500" cy="2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Bộ di chuyển XYZ sử dụng động cơ 5 pha tích hợp cảm biến hành trình.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uy trình hoạt động của hệ thống: Chạy về Home -&gt;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-&gt;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Vẽ hình 1, </a:t>
            </a:r>
            <a:b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muốn vẽ hình 2: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Chạy về Home -&gt; Start -&gt; Vẽ hình 2.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40c0ea1ed_0_0"/>
          <p:cNvSpPr txBox="1"/>
          <p:nvPr/>
        </p:nvSpPr>
        <p:spPr>
          <a:xfrm>
            <a:off x="838200" y="1999550"/>
            <a:ext cx="105945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Laze: được lắp đặt cố định trên giá đỡ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Camera: trả về vị trí của laze, đo đạc thông số độ mỏng của hình sau khi bắn laze, quan sát trực tiếp quá trình làm việc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g3f40c0ea1ed_0_0"/>
          <p:cNvSpPr txBox="1"/>
          <p:nvPr>
            <p:ph type="title"/>
          </p:nvPr>
        </p:nvSpPr>
        <p:spPr>
          <a:xfrm>
            <a:off x="838200" y="1042503"/>
            <a:ext cx="81051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ct val="90140"/>
              <a:buFont typeface="Times New Roman"/>
              <a:buNone/>
            </a:pPr>
            <a:r>
              <a:rPr lang="en-US" sz="3550"/>
              <a:t>2. Tổng quan hệ thống</a:t>
            </a:r>
            <a:endParaRPr sz="3550"/>
          </a:p>
          <a:p>
            <a:pPr indent="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68582"/>
              <a:buNone/>
            </a:pPr>
            <a:r>
              <a:rPr lang="en-US" sz="2900"/>
              <a:t>2.1.  Cấu trúc phần cứng</a:t>
            </a:r>
            <a:endParaRPr sz="2900"/>
          </a:p>
        </p:txBody>
      </p:sp>
      <p:sp>
        <p:nvSpPr>
          <p:cNvPr id="268" name="Google Shape;268;g3f40c0ea1ed_0_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15 May 2025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g3f40c0ea1ed_0_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Copyrights 2025 UIT. All Rights Reserved.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g3f40c0ea1ed_0_0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g3f40c0ea1ed_0_0"/>
          <p:cNvSpPr txBox="1"/>
          <p:nvPr>
            <p:ph type="title"/>
          </p:nvPr>
        </p:nvSpPr>
        <p:spPr>
          <a:xfrm>
            <a:off x="1320350" y="3429003"/>
            <a:ext cx="81051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200"/>
              <a:buFont typeface="Times New Roman"/>
              <a:buNone/>
            </a:pPr>
            <a:r>
              <a:rPr lang="en-US" sz="2600"/>
              <a:t>2.2.  Hệ thống laze</a:t>
            </a:r>
            <a:endParaRPr sz="2600"/>
          </a:p>
        </p:txBody>
      </p:sp>
      <p:sp>
        <p:nvSpPr>
          <p:cNvPr id="272" name="Google Shape;272;g3f40c0ea1ed_0_0"/>
          <p:cNvSpPr txBox="1"/>
          <p:nvPr/>
        </p:nvSpPr>
        <p:spPr>
          <a:xfrm>
            <a:off x="882625" y="4177950"/>
            <a:ext cx="10594500" cy="2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Laze cần có đầu vào 36V, 10A khi ổn định, khi khởi động laze cần dòng điện trên 10A -&gt; tạo một bộ nguồn 36V, 40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Camera: trả về vị trí của laze, đo đạc thông số độ mỏng của hình sau khi bắn laze, quan sát trực tiếp quá trình làm việc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FCE Pallete">
      <a:dk1>
        <a:srgbClr val="000000"/>
      </a:dk1>
      <a:lt1>
        <a:srgbClr val="FFFFFF"/>
      </a:lt1>
      <a:dk2>
        <a:srgbClr val="073B3A"/>
      </a:dk2>
      <a:lt2>
        <a:srgbClr val="FCECD0"/>
      </a:lt2>
      <a:accent1>
        <a:srgbClr val="0B6E4F"/>
      </a:accent1>
      <a:accent2>
        <a:srgbClr val="08A045"/>
      </a:accent2>
      <a:accent3>
        <a:srgbClr val="6BBF59"/>
      </a:accent3>
      <a:accent4>
        <a:srgbClr val="DDB771"/>
      </a:accent4>
      <a:accent5>
        <a:srgbClr val="001C55"/>
      </a:accent5>
      <a:accent6>
        <a:srgbClr val="ED5565"/>
      </a:accent6>
      <a:hlink>
        <a:srgbClr val="5D9CEC"/>
      </a:hlink>
      <a:folHlink>
        <a:srgbClr val="AC92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